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winter Delhi will stop every construction site for six weeks, and restrict dusty work at all of them for three months, whether a site is clean or dirty. We're team ___, and we're building a way to tell them apart.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Delhi's Winter Action Plan 2026-27 prohibits dust-generating demolition and outdoor civil works from November 1 to January 31, and bans all construction and demolition from December 10 to January 20. GRAP emergency stages add stops on top: in 2025, GRAP-3 halted construction for 16 days. These measures hit every site, whatever its dust control.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Delhi measures air at city scale: 47 reference stations, going to 60, under a planning norm of one station per 25 to 50 square kilometres. A monitor can't say which of the sites around it is dusty. So enforcement falls back on checklists — is an anti-smog gun installed, is the self-audit uploaded, is there CCTV — and fines are flat per violation. And trust is broken: in October 2025, water tankers were filmed spraying a reference monitor.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of not knowing lands on daily-wage workers. Delhi's welfare board has 1.38 million construction workers on its rolls, but only about 90 thousand active members. In one ground survey, 5 of 75 workers were registered and none had received the ₹8,000 aid. The Supreme Court had to order compensation upon GRAP-4.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Indian compliance monitors stream a PM number to the DPCC cloud, but in Delhi's winter, background PM10 is around 300 micrograms. A sensor at the fence mostly measures Delhi, not the site. Anti-smog guns run on timers. DPCC told the NGT that smog towers are ineffective. IITM's forecasts are good at city scale but don't attribute sites. Global fence-line systems exist for mines and refineries.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low-cost nodes on the boundary and a wind vane. Delhi's background reaches all four; the site's own plume reaches only the downwind ones. The difference is the site's contribution. When the wind is calm or confusing we say 'inconclusive' instead of guessing. When the site is the cause, misting turns on — not on a timer. Records are signed on the device and hash-chained, so edits become detectable. Fifteen-minute reporting with uncertainty is the design target; today's replay is hourly.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the data pipeline on four Delhi monitors with two years of meteorology. Our first honest finding: with one year of history, machine learning did not beat yesterday's value for tomorrow's city PM. So we use forecasts only to schedule dusty work, and put the innovation in attribution. What's real today: the data pipeline and this benchmark. What's simulated: the site, its sensors and its plume.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replay with real Delhi background and real wind, but a simulated site and sensors, a fixed upwind/downwind pair is badly wrong because the wind keeps changing direction. A wind-resolved ring cuts the error by about a quarter. Weekly reference visits barely help, because sensors foul and drift between visits. Re-calibrating the nodes against each other in the site's quiet hours cuts the error by another sixth, and that held up when an independent reviewer's harder stress tests were applied, including a site shape the method never saw. It's still a simulation, so we'll prove it on real hardware in November.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buyer case is evidence and inspection triage. Exemptions for clean sites are a pilot we'll propose, not a promise. We won't quote an impact number until our November trial measures fence-line PM10 and water with misting on and off. The method subtracts the local background instead of modelling it, so it needs no city-specific forecast model; siting, local aerosol and calibration still need checking in each city.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December: a working four-node ring with closed-loop misting, tested on a controlled dust source and, with a partner, at a real site — with measured numbers. Measure the site, not the city, and let clean sites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a week in November 2025. Top: the real Delhi background PM10 at a CPCB/DPCC monitor. Bottom: a simulated site's true contribution versus the fixed-pair estimate and our estimate. Gaps are 'inconclusive' calm-wind hours.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the 'what have you built?'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InnovateX · Theme 2: Rising AQI in Modern Urban Cities · Delhi zonal, 10 Oct 2026</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DustLedger</a:t>
            </a:r>
          </a:p>
        </p:txBody>
      </p:sp>
      <p:sp>
        <p:nvSpPr>
          <p:cNvPr id="4" name="TextBox 3"/>
          <p:cNvSpPr txBox="1"/>
          <p:nvPr/>
        </p:nvSpPr>
        <p:spPr>
          <a:xfrm>
            <a:off x="548640" y="1554480"/>
            <a:ext cx="10972800" cy="2194560"/>
          </a:xfrm>
          <a:prstGeom prst="rect">
            <a:avLst/>
          </a:prstGeom>
          <a:noFill/>
        </p:spPr>
        <p:txBody>
          <a:bodyPr wrap="square">
            <a:spAutoFit/>
          </a:bodyPr>
          <a:lstStyle/>
          <a:p>
            <a:pPr>
              <a:spcAft>
                <a:spcPts val="600"/>
              </a:spcAft>
              <a:defRPr sz="3000" b="0">
                <a:solidFill>
                  <a:srgbClr val="1F2937"/>
                </a:solidFill>
              </a:defRPr>
            </a:pPr>
            <a:r>
              <a:t>Measure each construction site's own dust —</a:t>
            </a:r>
          </a:p>
          <a:p>
            <a:pPr>
              <a:spcAft>
                <a:spcPts val="600"/>
              </a:spcAft>
              <a:defRPr sz="3000" b="1">
                <a:solidFill>
                  <a:srgbClr val="0F766E"/>
                </a:solidFill>
              </a:defRPr>
            </a:pPr>
            <a:r>
              <a:t>so Delhi can stop the dirty sites, not all of them.</a:t>
            </a:r>
          </a:p>
          <a:p>
            <a:pPr>
              <a:spcAft>
                <a:spcPts val="600"/>
              </a:spcAft>
              <a:defRPr sz="2000" b="0">
                <a:solidFill>
                  <a:srgbClr val="6B7280"/>
                </a:solidFill>
              </a:defRPr>
            </a:pPr>
            <a:r>
              <a:t>धूल का हिसाब  ·  Dhool ka hisaab</a:t>
            </a:r>
          </a:p>
        </p:txBody>
      </p:sp>
      <p:sp>
        <p:nvSpPr>
          <p:cNvPr id="5" name="TextBox 4"/>
          <p:cNvSpPr txBox="1"/>
          <p:nvPr/>
        </p:nvSpPr>
        <p:spPr>
          <a:xfrm>
            <a:off x="548640" y="4754880"/>
            <a:ext cx="10972800" cy="1280160"/>
          </a:xfrm>
          <a:prstGeom prst="rect">
            <a:avLst/>
          </a:prstGeom>
          <a:noFill/>
        </p:spPr>
        <p:txBody>
          <a:bodyPr wrap="square">
            <a:spAutoFit/>
          </a:bodyPr>
          <a:lstStyle/>
          <a:p>
            <a:pPr>
              <a:spcAft>
                <a:spcPts val="600"/>
              </a:spcAft>
              <a:defRPr sz="1800" b="0">
                <a:solidFill>
                  <a:srgbClr val="6B7280"/>
                </a:solidFill>
              </a:defRPr>
            </a:pPr>
            <a:r>
              <a:t>Team: ______  ·  Team ID: ______  ·  Members &amp; contacts: 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The problem</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This winter, Delhi will restrict every construction site</a:t>
            </a:r>
          </a:p>
        </p:txBody>
      </p:sp>
      <p:sp>
        <p:nvSpPr>
          <p:cNvPr id="4" name="TextBox 3"/>
          <p:cNvSpPr txBox="1"/>
          <p:nvPr/>
        </p:nvSpPr>
        <p:spPr>
          <a:xfrm>
            <a:off x="548640" y="1737360"/>
            <a:ext cx="3657600" cy="3200400"/>
          </a:xfrm>
          <a:prstGeom prst="rect">
            <a:avLst/>
          </a:prstGeom>
          <a:noFill/>
        </p:spPr>
        <p:txBody>
          <a:bodyPr wrap="square">
            <a:spAutoFit/>
          </a:bodyPr>
          <a:lstStyle/>
          <a:p>
            <a:pPr>
              <a:spcAft>
                <a:spcPts val="600"/>
              </a:spcAft>
              <a:defRPr sz="3400" b="1">
                <a:solidFill>
                  <a:srgbClr val="0F766E"/>
                </a:solidFill>
              </a:defRPr>
            </a:pPr>
            <a:r>
              <a:t>Nov 1 – Jan 31</a:t>
            </a:r>
          </a:p>
          <a:p>
            <a:pPr>
              <a:spcAft>
                <a:spcPts val="600"/>
              </a:spcAft>
              <a:defRPr sz="1800" b="0">
                <a:solidFill>
                  <a:srgbClr val="1F2937"/>
                </a:solidFill>
              </a:defRPr>
            </a:pPr>
            <a:r>
              <a:t>dust-generating demolition and outdoor civil works prohibited</a:t>
            </a:r>
          </a:p>
        </p:txBody>
      </p:sp>
      <p:sp>
        <p:nvSpPr>
          <p:cNvPr id="5" name="TextBox 4"/>
          <p:cNvSpPr txBox="1"/>
          <p:nvPr/>
        </p:nvSpPr>
        <p:spPr>
          <a:xfrm>
            <a:off x="4389120" y="1737360"/>
            <a:ext cx="3657600" cy="3200400"/>
          </a:xfrm>
          <a:prstGeom prst="rect">
            <a:avLst/>
          </a:prstGeom>
          <a:noFill/>
        </p:spPr>
        <p:txBody>
          <a:bodyPr wrap="square">
            <a:spAutoFit/>
          </a:bodyPr>
          <a:lstStyle/>
          <a:p>
            <a:pPr>
              <a:spcAft>
                <a:spcPts val="600"/>
              </a:spcAft>
              <a:defRPr sz="3400" b="1">
                <a:solidFill>
                  <a:srgbClr val="0F766E"/>
                </a:solidFill>
              </a:defRPr>
            </a:pPr>
            <a:r>
              <a:t>Dec 10 – Jan 20</a:t>
            </a:r>
          </a:p>
          <a:p>
            <a:pPr>
              <a:spcAft>
                <a:spcPts val="600"/>
              </a:spcAft>
              <a:defRPr sz="1800" b="0">
                <a:solidFill>
                  <a:srgbClr val="1F2937"/>
                </a:solidFill>
              </a:defRPr>
            </a:pPr>
            <a:r>
              <a:t>total ban on construction and demolition</a:t>
            </a:r>
          </a:p>
        </p:txBody>
      </p:sp>
      <p:sp>
        <p:nvSpPr>
          <p:cNvPr id="6" name="TextBox 5"/>
          <p:cNvSpPr txBox="1"/>
          <p:nvPr/>
        </p:nvSpPr>
        <p:spPr>
          <a:xfrm>
            <a:off x="8229600" y="1737360"/>
            <a:ext cx="3566160" cy="3200400"/>
          </a:xfrm>
          <a:prstGeom prst="rect">
            <a:avLst/>
          </a:prstGeom>
          <a:noFill/>
        </p:spPr>
        <p:txBody>
          <a:bodyPr wrap="square">
            <a:spAutoFit/>
          </a:bodyPr>
          <a:lstStyle/>
          <a:p>
            <a:pPr>
              <a:spcAft>
                <a:spcPts val="600"/>
              </a:spcAft>
              <a:defRPr sz="3400" b="1">
                <a:solidFill>
                  <a:srgbClr val="0F766E"/>
                </a:solidFill>
              </a:defRPr>
            </a:pPr>
            <a:r>
              <a:t>16 days</a:t>
            </a:r>
          </a:p>
          <a:p>
            <a:pPr>
              <a:spcAft>
                <a:spcPts val="600"/>
              </a:spcAft>
              <a:defRPr sz="1800" b="0">
                <a:solidFill>
                  <a:srgbClr val="1F2937"/>
                </a:solidFill>
              </a:defRPr>
            </a:pPr>
            <a:r>
              <a:t>GRAP-3 construction halt in 2025 (₹10,000 compensation announced)</a:t>
            </a:r>
          </a:p>
        </p:txBody>
      </p:sp>
      <p:sp>
        <p:nvSpPr>
          <p:cNvPr id="7" name="TextBox 6"/>
          <p:cNvSpPr txBox="1"/>
          <p:nvPr/>
        </p:nvSpPr>
        <p:spPr>
          <a:xfrm>
            <a:off x="548640" y="4206240"/>
            <a:ext cx="10972800" cy="1371600"/>
          </a:xfrm>
          <a:prstGeom prst="rect">
            <a:avLst/>
          </a:prstGeom>
          <a:noFill/>
        </p:spPr>
        <p:txBody>
          <a:bodyPr wrap="square">
            <a:spAutoFit/>
          </a:bodyPr>
          <a:lstStyle/>
          <a:p>
            <a:pPr>
              <a:spcAft>
                <a:spcPts val="600"/>
              </a:spcAft>
              <a:defRPr sz="2400" b="1">
                <a:solidFill>
                  <a:srgbClr val="1F2937"/>
                </a:solidFill>
              </a:defRPr>
            </a:pPr>
            <a:r>
              <a:t>Every site is treated the same — clean or dirty.</a:t>
            </a:r>
          </a:p>
        </p:txBody>
      </p:sp>
      <p:sp>
        <p:nvSpPr>
          <p:cNvPr id="8" name="TextBox 7"/>
          <p:cNvSpPr txBox="1"/>
          <p:nvPr/>
        </p:nvSpPr>
        <p:spPr>
          <a:xfrm>
            <a:off x="548640" y="6355080"/>
            <a:ext cx="11155680" cy="365760"/>
          </a:xfrm>
          <a:prstGeom prst="rect">
            <a:avLst/>
          </a:prstGeom>
          <a:noFill/>
        </p:spPr>
        <p:txBody>
          <a:bodyPr wrap="square">
            <a:spAutoFit/>
          </a:bodyPr>
          <a:lstStyle/>
          <a:p>
            <a:pPr>
              <a:spcAft>
                <a:spcPts val="600"/>
              </a:spcAft>
              <a:defRPr sz="1000" b="0">
                <a:solidFill>
                  <a:srgbClr val="6B7280"/>
                </a:solidFill>
              </a:defRPr>
            </a:pPr>
            <a:r>
              <a:t>Sources: Delhi Winter Action Plan 2026-27 (The News Mill, Sept 2026); Hindustan Times, Dec 2025. Full citations: research/landscape.md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The precise problem</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A monitor can tell the air is bad — not which site made it bad</a:t>
            </a:r>
          </a:p>
        </p:txBody>
      </p:sp>
      <p:sp>
        <p:nvSpPr>
          <p:cNvPr id="4" name="TextBox 3"/>
          <p:cNvSpPr txBox="1"/>
          <p:nvPr/>
        </p:nvSpPr>
        <p:spPr>
          <a:xfrm>
            <a:off x="548640" y="1645920"/>
            <a:ext cx="11155680" cy="4389120"/>
          </a:xfrm>
          <a:prstGeom prst="rect">
            <a:avLst/>
          </a:prstGeom>
          <a:noFill/>
        </p:spPr>
        <p:txBody>
          <a:bodyPr wrap="square">
            <a:spAutoFit/>
          </a:bodyPr>
          <a:lstStyle/>
          <a:p>
            <a:pPr>
              <a:spcAft>
                <a:spcPts val="1200"/>
              </a:spcAft>
              <a:defRPr sz="2000" b="0">
                <a:solidFill>
                  <a:srgbClr val="1F2937"/>
                </a:solidFill>
              </a:defRPr>
            </a:pPr>
            <a:r>
              <a:t>• 47 reference monitors in Delhi (→ 60); planning norm = one per 25–50 km²</a:t>
            </a:r>
          </a:p>
          <a:p>
            <a:pPr>
              <a:spcAft>
                <a:spcPts val="1200"/>
              </a:spcAft>
              <a:defRPr sz="2000" b="0">
                <a:solidFill>
                  <a:srgbClr val="1F2937"/>
                </a:solidFill>
              </a:defRPr>
            </a:pPr>
            <a:r>
              <a:t>• Site compliance = checklists: anti-smog guns per 5,000 m², CCTV, self-audit uploads</a:t>
            </a:r>
          </a:p>
          <a:p>
            <a:pPr>
              <a:spcAft>
                <a:spcPts val="1200"/>
              </a:spcAft>
              <a:defRPr sz="2000" b="0">
                <a:solidFill>
                  <a:srgbClr val="1F2937"/>
                </a:solidFill>
              </a:defRPr>
            </a:pPr>
            <a:r>
              <a:t>• Flat fine per violation: ₹5 lakh for a large Delhi site, "irrespective of the air quality category" — doubled under GRAP</a:t>
            </a:r>
          </a:p>
          <a:p>
            <a:pPr>
              <a:spcAft>
                <a:spcPts val="1200"/>
              </a:spcAft>
              <a:defRPr sz="2000" b="0">
                <a:solidFill>
                  <a:srgbClr val="1F2937"/>
                </a:solidFill>
              </a:defRPr>
            </a:pPr>
            <a:r>
              <a:t>• Oct 2025: tankers filmed spraying water at the Jahangirpuri reference monitor (CPCB says its data pipeline can't be manipulated)</a:t>
            </a:r>
          </a:p>
          <a:p>
            <a:pPr>
              <a:spcAft>
                <a:spcPts val="1200"/>
              </a:spcAft>
              <a:defRPr sz="2200" b="1">
                <a:solidFill>
                  <a:srgbClr val="0F766E"/>
                </a:solidFill>
              </a:defRPr>
            </a:pPr>
            <a:r>
              <a:t>Penalties track checklists, not the dust a site actually releases.</a:t>
            </a:r>
          </a:p>
        </p:txBody>
      </p:sp>
      <p:sp>
        <p:nvSpPr>
          <p:cNvPr id="5" name="TextBox 4"/>
          <p:cNvSpPr txBox="1"/>
          <p:nvPr/>
        </p:nvSpPr>
        <p:spPr>
          <a:xfrm>
            <a:off x="548640" y="6355080"/>
            <a:ext cx="11155680" cy="365760"/>
          </a:xfrm>
          <a:prstGeom prst="rect">
            <a:avLst/>
          </a:prstGeom>
          <a:noFill/>
        </p:spPr>
        <p:txBody>
          <a:bodyPr wrap="square">
            <a:spAutoFit/>
          </a:bodyPr>
          <a:lstStyle/>
          <a:p>
            <a:pPr>
              <a:spcAft>
                <a:spcPts val="600"/>
              </a:spcAft>
              <a:defRPr sz="1000" b="0">
                <a:solidFill>
                  <a:srgbClr val="6B7280"/>
                </a:solidFill>
              </a:defRPr>
            </a:pPr>
            <a:r>
              <a:t>Sources: Hindustan Times (2026; Feb 2024); Newslaundry, 30 Oct 2025; New Indian Express, 3 Dec 2025. research/landscape.md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Socio-economic impact</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Who pays for not knowing: daily-wage workers</a:t>
            </a:r>
          </a:p>
        </p:txBody>
      </p:sp>
      <p:sp>
        <p:nvSpPr>
          <p:cNvPr id="4" name="TextBox 3"/>
          <p:cNvSpPr txBox="1"/>
          <p:nvPr/>
        </p:nvSpPr>
        <p:spPr>
          <a:xfrm>
            <a:off x="548640" y="1737360"/>
            <a:ext cx="5486400" cy="3657600"/>
          </a:xfrm>
          <a:prstGeom prst="rect">
            <a:avLst/>
          </a:prstGeom>
          <a:noFill/>
        </p:spPr>
        <p:txBody>
          <a:bodyPr wrap="square">
            <a:spAutoFit/>
          </a:bodyPr>
          <a:lstStyle/>
          <a:p>
            <a:pPr>
              <a:spcAft>
                <a:spcPts val="600"/>
              </a:spcAft>
              <a:defRPr sz="4400" b="1">
                <a:solidFill>
                  <a:srgbClr val="0F766E"/>
                </a:solidFill>
              </a:defRPr>
            </a:pPr>
            <a:r>
              <a:t>1,378,199</a:t>
            </a:r>
          </a:p>
          <a:p>
            <a:pPr>
              <a:spcAft>
                <a:spcPts val="600"/>
              </a:spcAft>
              <a:defRPr sz="2000" b="0">
                <a:solidFill>
                  <a:srgbClr val="1F2937"/>
                </a:solidFill>
              </a:defRPr>
            </a:pPr>
            <a:r>
              <a:t>construction workers on Delhi's welfare-board rolls — only 89,518 active members</a:t>
            </a:r>
          </a:p>
        </p:txBody>
      </p:sp>
      <p:sp>
        <p:nvSpPr>
          <p:cNvPr id="5" name="TextBox 4"/>
          <p:cNvSpPr txBox="1"/>
          <p:nvPr/>
        </p:nvSpPr>
        <p:spPr>
          <a:xfrm>
            <a:off x="6309360" y="1737360"/>
            <a:ext cx="5486400" cy="3657600"/>
          </a:xfrm>
          <a:prstGeom prst="rect">
            <a:avLst/>
          </a:prstGeom>
          <a:noFill/>
        </p:spPr>
        <p:txBody>
          <a:bodyPr wrap="square">
            <a:spAutoFit/>
          </a:bodyPr>
          <a:lstStyle/>
          <a:p>
            <a:pPr>
              <a:spcAft>
                <a:spcPts val="600"/>
              </a:spcAft>
              <a:defRPr sz="4400" b="1">
                <a:solidFill>
                  <a:srgbClr val="0F766E"/>
                </a:solidFill>
              </a:defRPr>
            </a:pPr>
            <a:r>
              <a:t>5 of 75</a:t>
            </a:r>
          </a:p>
          <a:p>
            <a:pPr>
              <a:spcAft>
                <a:spcPts val="600"/>
              </a:spcAft>
              <a:defRPr sz="2000" b="0">
                <a:solidFill>
                  <a:srgbClr val="1F2937"/>
                </a:solidFill>
              </a:defRPr>
            </a:pPr>
            <a:r>
              <a:t>workers surveyed at sites were registered; none had received the ₹8,000 aid</a:t>
            </a:r>
          </a:p>
        </p:txBody>
      </p:sp>
      <p:sp>
        <p:nvSpPr>
          <p:cNvPr id="6" name="TextBox 5"/>
          <p:cNvSpPr txBox="1"/>
          <p:nvPr/>
        </p:nvSpPr>
        <p:spPr>
          <a:xfrm>
            <a:off x="548640" y="4480560"/>
            <a:ext cx="10972800" cy="1097280"/>
          </a:xfrm>
          <a:prstGeom prst="rect">
            <a:avLst/>
          </a:prstGeom>
          <a:noFill/>
        </p:spPr>
        <p:txBody>
          <a:bodyPr wrap="square">
            <a:spAutoFit/>
          </a:bodyPr>
          <a:lstStyle/>
          <a:p>
            <a:pPr>
              <a:spcAft>
                <a:spcPts val="600"/>
              </a:spcAft>
              <a:defRPr sz="1800" b="0">
                <a:solidFill>
                  <a:srgbClr val="6B7280"/>
                </a:solidFill>
              </a:defRPr>
            </a:pPr>
            <a:r>
              <a:t>Supreme Court (25 Nov 2024): assistance "immediately … upon the imposition of GRAP-4"</a:t>
            </a:r>
          </a:p>
        </p:txBody>
      </p:sp>
      <p:sp>
        <p:nvSpPr>
          <p:cNvPr id="7" name="TextBox 6"/>
          <p:cNvSpPr txBox="1"/>
          <p:nvPr/>
        </p:nvSpPr>
        <p:spPr>
          <a:xfrm>
            <a:off x="548640" y="6355080"/>
            <a:ext cx="11155680" cy="365760"/>
          </a:xfrm>
          <a:prstGeom prst="rect">
            <a:avLst/>
          </a:prstGeom>
          <a:noFill/>
        </p:spPr>
        <p:txBody>
          <a:bodyPr wrap="square">
            <a:spAutoFit/>
          </a:bodyPr>
          <a:lstStyle/>
          <a:p>
            <a:pPr>
              <a:spcAft>
                <a:spcPts val="600"/>
              </a:spcAft>
              <a:defRPr sz="1000" b="0">
                <a:solidFill>
                  <a:srgbClr val="6B7280"/>
                </a:solidFill>
              </a:defRPr>
            </a:pPr>
            <a:r>
              <a:t>Source: Down To Earth (Dec 2024), citing the welfare-board dashboard and the SC order. research/landscape.md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Background</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Why today's tools fall short</a:t>
            </a:r>
          </a:p>
        </p:txBody>
      </p:sp>
      <p:graphicFrame>
        <p:nvGraphicFramePr>
          <p:cNvPr id="4" name="Table 3"/>
          <p:cNvGraphicFramePr>
            <a:graphicFrameLocks noGrp="1"/>
          </p:cNvGraphicFramePr>
          <p:nvPr/>
        </p:nvGraphicFramePr>
        <p:xfrm>
          <a:off x="548640" y="1645920"/>
          <a:ext cx="11064240" cy="4023360"/>
        </p:xfrm>
        <a:graphic>
          <a:graphicData uri="http://schemas.openxmlformats.org/drawingml/2006/table">
            <a:tbl>
              <a:tblPr firstRow="1" bandRow="1">
                <a:tableStyleId>{5C22544A-7EE6-4342-B048-85BDC9FD1C3A}</a:tableStyleId>
              </a:tblPr>
              <a:tblGrid>
                <a:gridCol w="5532120"/>
                <a:gridCol w="5532120"/>
              </a:tblGrid>
              <a:tr h="670560">
                <a:tc>
                  <a:txBody>
                    <a:bodyPr/>
                    <a:lstStyle/>
                    <a:p>
                      <a:pPr>
                        <a:defRPr sz="1800"/>
                      </a:pPr>
                      <a:r>
                        <a:t>Reference monitors (CAAQMS)</a:t>
                      </a:r>
                    </a:p>
                  </a:txBody>
                  <a:tcPr/>
                </a:tc>
                <a:tc>
                  <a:txBody>
                    <a:bodyPr/>
                    <a:lstStyle/>
                    <a:p>
                      <a:pPr>
                        <a:defRPr sz="1800"/>
                      </a:pPr>
                      <a:r>
                        <a:t>city scale — can't attribute a site</a:t>
                      </a:r>
                    </a:p>
                  </a:txBody>
                  <a:tcPr/>
                </a:tc>
              </a:tr>
              <a:tr h="670560">
                <a:tc>
                  <a:txBody>
                    <a:bodyPr/>
                    <a:lstStyle/>
                    <a:p>
                      <a:pPr>
                        <a:defRPr sz="1800"/>
                      </a:pPr>
                      <a:r>
                        <a:t>Compliance monitors → DPCC cloud</a:t>
                      </a:r>
                    </a:p>
                  </a:txBody>
                  <a:tcPr/>
                </a:tc>
                <a:tc>
                  <a:txBody>
                    <a:bodyPr/>
                    <a:lstStyle/>
                    <a:p>
                      <a:pPr>
                        <a:defRPr sz="1800"/>
                      </a:pPr>
                      <a:r>
                        <a:t>absolute PM; site ≪ Delhi background in winter</a:t>
                      </a:r>
                    </a:p>
                  </a:txBody>
                  <a:tcPr/>
                </a:tc>
              </a:tr>
              <a:tr h="670560">
                <a:tc>
                  <a:txBody>
                    <a:bodyPr/>
                    <a:lstStyle/>
                    <a:p>
                      <a:pPr>
                        <a:defRPr sz="1800"/>
                      </a:pPr>
                      <a:r>
                        <a:t>Anti-smog guns / sprinklers</a:t>
                      </a:r>
                    </a:p>
                  </a:txBody>
                  <a:tcPr/>
                </a:tc>
                <a:tc>
                  <a:txBody>
                    <a:bodyPr/>
                    <a:lstStyle/>
                    <a:p>
                      <a:pPr>
                        <a:defRPr sz="1800"/>
                      </a:pPr>
                      <a:r>
                        <a:t>timer-driven; no feedback on whether dust fell</a:t>
                      </a:r>
                    </a:p>
                  </a:txBody>
                  <a:tcPr/>
                </a:tc>
              </a:tr>
              <a:tr h="670560">
                <a:tc>
                  <a:txBody>
                    <a:bodyPr/>
                    <a:lstStyle/>
                    <a:p>
                      <a:pPr>
                        <a:defRPr sz="1800"/>
                      </a:pPr>
                      <a:r>
                        <a:t>Smog towers</a:t>
                      </a:r>
                    </a:p>
                  </a:txBody>
                  <a:tcPr/>
                </a:tc>
                <a:tc>
                  <a:txBody>
                    <a:bodyPr/>
                    <a:lstStyle/>
                    <a:p>
                      <a:pPr>
                        <a:defRPr sz="1800"/>
                      </a:pPr>
                      <a:r>
                        <a:t>DPCC's own NGT affidavit: ineffective</a:t>
                      </a:r>
                    </a:p>
                  </a:txBody>
                  <a:tcPr/>
                </a:tc>
              </a:tr>
              <a:tr h="670560">
                <a:tc>
                  <a:txBody>
                    <a:bodyPr/>
                    <a:lstStyle/>
                    <a:p>
                      <a:pPr>
                        <a:defRPr sz="1800"/>
                      </a:pPr>
                      <a:r>
                        <a:t>City AQI forecasts (IITM, Google)</a:t>
                      </a:r>
                    </a:p>
                  </a:txBody>
                  <a:tcPr/>
                </a:tc>
                <a:tc>
                  <a:txBody>
                    <a:bodyPr/>
                    <a:lstStyle/>
                    <a:p>
                      <a:pPr>
                        <a:defRPr sz="1800"/>
                      </a:pPr>
                      <a:r>
                        <a:t>tomorrow's city AQI, not today's dusty site</a:t>
                      </a:r>
                    </a:p>
                  </a:txBody>
                  <a:tcPr/>
                </a:tc>
              </a:tr>
              <a:tr h="670560">
                <a:tc>
                  <a:txBody>
                    <a:bodyPr/>
                    <a:lstStyle/>
                    <a:p>
                      <a:pPr>
                        <a:defRPr sz="1800"/>
                      </a:pPr>
                      <a:r>
                        <a:t>Fence-line systems (Aeroqual, Envirosuite)</a:t>
                      </a:r>
                    </a:p>
                  </a:txBody>
                  <a:tcPr/>
                </a:tc>
                <a:tc>
                  <a:txBody>
                    <a:bodyPr/>
                    <a:lstStyle/>
                    <a:p>
                      <a:pPr>
                        <a:defRPr sz="1800"/>
                      </a:pPr>
                      <a:r>
                        <a:t>mines/refineries; not Indian construction workflows</a:t>
                      </a:r>
                    </a:p>
                  </a:txBody>
                  <a:tcPr/>
                </a:tc>
              </a:tr>
            </a:tbl>
          </a:graphicData>
        </a:graphic>
      </p:graphicFrame>
      <p:sp>
        <p:nvSpPr>
          <p:cNvPr id="5" name="TextBox 4"/>
          <p:cNvSpPr txBox="1"/>
          <p:nvPr/>
        </p:nvSpPr>
        <p:spPr>
          <a:xfrm>
            <a:off x="548640" y="6355080"/>
            <a:ext cx="11155680" cy="365760"/>
          </a:xfrm>
          <a:prstGeom prst="rect">
            <a:avLst/>
          </a:prstGeom>
          <a:noFill/>
        </p:spPr>
        <p:txBody>
          <a:bodyPr wrap="square">
            <a:spAutoFit/>
          </a:bodyPr>
          <a:lstStyle/>
          <a:p>
            <a:pPr>
              <a:spcAft>
                <a:spcPts val="600"/>
              </a:spcAft>
              <a:defRPr sz="1000" b="0">
                <a:solidFill>
                  <a:srgbClr val="6B7280"/>
                </a:solidFill>
              </a:defRPr>
            </a:pPr>
            <a:r>
              <a:t>Sources: research/landscape.md §3–4 (TERI winter PM10 314 ± 77 µg/m³; DPCC affidavit via Down To Earth; vendor pages)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Proposed solution</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DustLedger: a fence-line ring that subtracts Delhi</a:t>
            </a:r>
          </a:p>
        </p:txBody>
      </p:sp>
      <p:pic>
        <p:nvPicPr>
          <p:cNvPr id="4" name="Picture 3" descr="fig_site.png"/>
          <p:cNvPicPr>
            <a:picLocks noChangeAspect="1"/>
          </p:cNvPicPr>
          <p:nvPr/>
        </p:nvPicPr>
        <p:blipFill>
          <a:blip r:embed="rId3"/>
          <a:stretch>
            <a:fillRect/>
          </a:stretch>
        </p:blipFill>
        <p:spPr>
          <a:xfrm>
            <a:off x="457200" y="1463040"/>
            <a:ext cx="5368413" cy="4754880"/>
          </a:xfrm>
          <a:prstGeom prst="rect">
            <a:avLst/>
          </a:prstGeom>
        </p:spPr>
      </p:pic>
      <p:sp>
        <p:nvSpPr>
          <p:cNvPr id="5" name="TextBox 4"/>
          <p:cNvSpPr txBox="1"/>
          <p:nvPr/>
        </p:nvSpPr>
        <p:spPr>
          <a:xfrm>
            <a:off x="6035040" y="1554480"/>
            <a:ext cx="5760720" cy="4754880"/>
          </a:xfrm>
          <a:prstGeom prst="rect">
            <a:avLst/>
          </a:prstGeom>
          <a:noFill/>
        </p:spPr>
        <p:txBody>
          <a:bodyPr wrap="square">
            <a:spAutoFit/>
          </a:bodyPr>
          <a:lstStyle/>
          <a:p>
            <a:pPr>
              <a:spcAft>
                <a:spcPts val="400"/>
              </a:spcAft>
              <a:defRPr sz="2200" b="1">
                <a:solidFill>
                  <a:srgbClr val="0F766E"/>
                </a:solidFill>
              </a:defRPr>
            </a:pPr>
            <a:r>
              <a:t>1  Sense</a:t>
            </a:r>
          </a:p>
          <a:p>
            <a:pPr>
              <a:spcAft>
                <a:spcPts val="400"/>
              </a:spcAft>
              <a:defRPr sz="1700" b="0">
                <a:solidFill>
                  <a:srgbClr val="1F2937"/>
                </a:solidFill>
              </a:defRPr>
            </a:pPr>
            <a:r>
              <a:t>3–4 PM nodes + wind vane on the boundary; solar, LTE</a:t>
            </a:r>
          </a:p>
          <a:p>
            <a:pPr>
              <a:spcAft>
                <a:spcPts val="400"/>
              </a:spcAft>
              <a:defRPr sz="2200" b="1">
                <a:solidFill>
                  <a:srgbClr val="0F766E"/>
                </a:solidFill>
              </a:defRPr>
            </a:pPr>
            <a:r>
              <a:t>2  Attribute</a:t>
            </a:r>
          </a:p>
          <a:p>
            <a:pPr>
              <a:spcAft>
                <a:spcPts val="400"/>
              </a:spcAft>
              <a:defRPr sz="1700" b="0">
                <a:solidFill>
                  <a:srgbClr val="1F2937"/>
                </a:solidFill>
              </a:defRPr>
            </a:pPr>
            <a:r>
              <a:t>downwind − upwind = the site's own dust; abstain in calm winds</a:t>
            </a:r>
          </a:p>
          <a:p>
            <a:pPr>
              <a:spcAft>
                <a:spcPts val="400"/>
              </a:spcAft>
              <a:defRPr sz="2200" b="1">
                <a:solidFill>
                  <a:srgbClr val="0F766E"/>
                </a:solidFill>
              </a:defRPr>
            </a:pPr>
            <a:r>
              <a:t>3  Act</a:t>
            </a:r>
          </a:p>
          <a:p>
            <a:pPr>
              <a:spcAft>
                <a:spcPts val="400"/>
              </a:spcAft>
              <a:defRPr sz="1700" b="0">
                <a:solidFill>
                  <a:srgbClr val="1F2937"/>
                </a:solidFill>
              </a:defRPr>
            </a:pPr>
            <a:r>
              <a:t>mist only when the site is the cause (flow-metered)</a:t>
            </a:r>
          </a:p>
          <a:p>
            <a:pPr>
              <a:spcAft>
                <a:spcPts val="400"/>
              </a:spcAft>
              <a:defRPr sz="2200" b="1">
                <a:solidFill>
                  <a:srgbClr val="0F766E"/>
                </a:solidFill>
              </a:defRPr>
            </a:pPr>
            <a:r>
              <a:t>4  Prove</a:t>
            </a:r>
          </a:p>
          <a:p>
            <a:pPr>
              <a:spcAft>
                <a:spcPts val="400"/>
              </a:spcAft>
              <a:defRPr sz="1700" b="0">
                <a:solidFill>
                  <a:srgbClr val="1F2937"/>
                </a:solidFill>
              </a:defRPr>
            </a:pPr>
            <a:r>
              <a:t>signed, hash-chained ledger → regulator ranking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What we built</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Evidence on real Delhi data: forecasting isn't the gap</a:t>
            </a:r>
          </a:p>
        </p:txBody>
      </p:sp>
      <p:pic>
        <p:nvPicPr>
          <p:cNvPr id="4" name="Picture 3" descr="fig_forecast.png"/>
          <p:cNvPicPr>
            <a:picLocks noChangeAspect="1"/>
          </p:cNvPicPr>
          <p:nvPr/>
        </p:nvPicPr>
        <p:blipFill>
          <a:blip r:embed="rId3"/>
          <a:stretch>
            <a:fillRect/>
          </a:stretch>
        </p:blipFill>
        <p:spPr>
          <a:xfrm>
            <a:off x="457200" y="1463040"/>
            <a:ext cx="9144000" cy="4754880"/>
          </a:xfrm>
          <a:prstGeom prst="rect">
            <a:avLst/>
          </a:prstGeom>
        </p:spPr>
      </p:pic>
      <p:sp>
        <p:nvSpPr>
          <p:cNvPr id="5" name="TextBox 4"/>
          <p:cNvSpPr txBox="1"/>
          <p:nvPr/>
        </p:nvSpPr>
        <p:spPr>
          <a:xfrm>
            <a:off x="9692640" y="1645920"/>
            <a:ext cx="2194560" cy="4572000"/>
          </a:xfrm>
          <a:prstGeom prst="rect">
            <a:avLst/>
          </a:prstGeom>
          <a:noFill/>
        </p:spPr>
        <p:txBody>
          <a:bodyPr wrap="square">
            <a:spAutoFit/>
          </a:bodyPr>
          <a:lstStyle/>
          <a:p>
            <a:pPr>
              <a:spcAft>
                <a:spcPts val="600"/>
              </a:spcAft>
              <a:defRPr sz="1400" b="0">
                <a:solidFill>
                  <a:srgbClr val="1F2937"/>
                </a:solidFill>
              </a:defRPr>
            </a:pPr>
            <a:r>
              <a:t>Real: CPCB/DPCC data (Anand Vihar, R K Puram, ITO, Major Dhyan Chand Stadium) + ERA5</a:t>
            </a:r>
          </a:p>
          <a:p>
            <a:pPr>
              <a:spcAft>
                <a:spcPts val="600"/>
              </a:spcAft>
              <a:defRPr sz="1400" b="0">
                <a:solidFill>
                  <a:srgbClr val="6B7280"/>
                </a:solidFill>
              </a:defRPr>
            </a:pPr>
            <a:r>
              <a:t>Walk-forward, time-ordered test: Nov 2025–Sep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The innovation</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Isolating one site's dust: the ring works where a fixed pair fails</a:t>
            </a:r>
          </a:p>
        </p:txBody>
      </p:sp>
      <p:pic>
        <p:nvPicPr>
          <p:cNvPr id="4" name="Picture 3" descr="fig_attribution.png"/>
          <p:cNvPicPr>
            <a:picLocks noChangeAspect="1"/>
          </p:cNvPicPr>
          <p:nvPr/>
        </p:nvPicPr>
        <p:blipFill>
          <a:blip r:embed="rId3"/>
          <a:stretch>
            <a:fillRect/>
          </a:stretch>
        </p:blipFill>
        <p:spPr>
          <a:xfrm>
            <a:off x="457200" y="1463040"/>
            <a:ext cx="9144000" cy="4754880"/>
          </a:xfrm>
          <a:prstGeom prst="rect">
            <a:avLst/>
          </a:prstGeom>
        </p:spPr>
      </p:pic>
      <p:sp>
        <p:nvSpPr>
          <p:cNvPr id="5" name="TextBox 4"/>
          <p:cNvSpPr txBox="1"/>
          <p:nvPr/>
        </p:nvSpPr>
        <p:spPr>
          <a:xfrm>
            <a:off x="9692640" y="1645920"/>
            <a:ext cx="2194560" cy="4572000"/>
          </a:xfrm>
          <a:prstGeom prst="rect">
            <a:avLst/>
          </a:prstGeom>
          <a:noFill/>
        </p:spPr>
        <p:txBody>
          <a:bodyPr wrap="square">
            <a:spAutoFit/>
          </a:bodyPr>
          <a:lstStyle/>
          <a:p>
            <a:pPr>
              <a:spcAft>
                <a:spcPts val="600"/>
              </a:spcAft>
              <a:defRPr sz="1400" b="1">
                <a:solidFill>
                  <a:srgbClr val="B45309"/>
                </a:solidFill>
              </a:defRPr>
            </a:pPr>
            <a:r>
              <a:t>SIMULATED site, plume, sensors and faults on REAL background + wind</a:t>
            </a:r>
          </a:p>
          <a:p>
            <a:pPr>
              <a:spcAft>
                <a:spcPts val="600"/>
              </a:spcAft>
              <a:defRPr sz="1400" b="0">
                <a:solidFill>
                  <a:srgbClr val="1F2937"/>
                </a:solidFill>
              </a:defRPr>
            </a:pPr>
            <a:r>
              <a:t>Stress tests from an independent review: fouling, dust-vs-ambient gain, dirty nights, neighbours, vane bias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Impact &amp; scalability</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Impact, buyers and scale — what we can honestly claim</a:t>
            </a:r>
          </a:p>
        </p:txBody>
      </p:sp>
      <p:sp>
        <p:nvSpPr>
          <p:cNvPr id="4" name="TextBox 3"/>
          <p:cNvSpPr txBox="1"/>
          <p:nvPr/>
        </p:nvSpPr>
        <p:spPr>
          <a:xfrm>
            <a:off x="548640" y="1645920"/>
            <a:ext cx="5486400" cy="4572000"/>
          </a:xfrm>
          <a:prstGeom prst="rect">
            <a:avLst/>
          </a:prstGeom>
          <a:noFill/>
        </p:spPr>
        <p:txBody>
          <a:bodyPr wrap="square">
            <a:spAutoFit/>
          </a:bodyPr>
          <a:lstStyle/>
          <a:p>
            <a:pPr>
              <a:spcAft>
                <a:spcPts val="600"/>
              </a:spcAft>
              <a:defRPr sz="2200" b="1">
                <a:solidFill>
                  <a:srgbClr val="0F766E"/>
                </a:solidFill>
              </a:defRPr>
            </a:pPr>
            <a:r>
              <a:t>Who benefits</a:t>
            </a:r>
          </a:p>
          <a:p>
            <a:pPr>
              <a:spcAft>
                <a:spcPts val="600"/>
              </a:spcAft>
              <a:defRPr sz="1800" b="0">
                <a:solidFill>
                  <a:srgbClr val="1F2937"/>
                </a:solidFill>
              </a:defRPr>
            </a:pPr>
            <a:r>
              <a:t>• Regulator: inspection triage for 334 enforcement teams</a:t>
            </a:r>
          </a:p>
          <a:p>
            <a:pPr>
              <a:spcAft>
                <a:spcPts val="600"/>
              </a:spcAft>
              <a:defRPr sz="1800" b="0">
                <a:solidFill>
                  <a:srgbClr val="1F2937"/>
                </a:solidFill>
              </a:defRPr>
            </a:pPr>
            <a:r>
              <a:t>• Builder: a measured record for disputes</a:t>
            </a:r>
          </a:p>
          <a:p>
            <a:pPr>
              <a:spcAft>
                <a:spcPts val="600"/>
              </a:spcAft>
              <a:defRPr sz="1800" b="0">
                <a:solidFill>
                  <a:srgbClr val="1F2937"/>
                </a:solidFill>
              </a:defRPr>
            </a:pPr>
            <a:r>
              <a:t>• Workers: proposed 'earned-permission' pilot for verified-clean sites</a:t>
            </a:r>
          </a:p>
          <a:p>
            <a:pPr>
              <a:spcAft>
                <a:spcPts val="600"/>
              </a:spcAft>
              <a:defRPr sz="2200" b="1">
                <a:solidFill>
                  <a:srgbClr val="0F766E"/>
                </a:solidFill>
              </a:defRPr>
            </a:pPr>
            <a:r>
              <a:t>What we'll measure (Nov trial)</a:t>
            </a:r>
          </a:p>
          <a:p>
            <a:pPr>
              <a:spcAft>
                <a:spcPts val="600"/>
              </a:spcAft>
              <a:defRPr sz="1800" b="0">
                <a:solidFill>
                  <a:srgbClr val="1F2937"/>
                </a:solidFill>
              </a:defRPr>
            </a:pPr>
            <a:r>
              <a:t>• Fence-line PM10 with misting on vs off</a:t>
            </a:r>
          </a:p>
          <a:p>
            <a:pPr>
              <a:spcAft>
                <a:spcPts val="600"/>
              </a:spcAft>
              <a:defRPr sz="1800" b="0">
                <a:solidFill>
                  <a:srgbClr val="1F2937"/>
                </a:solidFill>
              </a:defRPr>
            </a:pPr>
            <a:r>
              <a:t>• Litres of water per unit of dust avoided</a:t>
            </a:r>
          </a:p>
        </p:txBody>
      </p:sp>
      <p:sp>
        <p:nvSpPr>
          <p:cNvPr id="5" name="TextBox 4"/>
          <p:cNvSpPr txBox="1"/>
          <p:nvPr/>
        </p:nvSpPr>
        <p:spPr>
          <a:xfrm>
            <a:off x="6309360" y="1645920"/>
            <a:ext cx="5486400" cy="4572000"/>
          </a:xfrm>
          <a:prstGeom prst="rect">
            <a:avLst/>
          </a:prstGeom>
          <a:noFill/>
        </p:spPr>
        <p:txBody>
          <a:bodyPr wrap="square">
            <a:spAutoFit/>
          </a:bodyPr>
          <a:lstStyle/>
          <a:p>
            <a:pPr>
              <a:spcAft>
                <a:spcPts val="600"/>
              </a:spcAft>
              <a:defRPr sz="2200" b="1">
                <a:solidFill>
                  <a:srgbClr val="0F766E"/>
                </a:solidFill>
              </a:defRPr>
            </a:pPr>
            <a:r>
              <a:t>Scale across India</a:t>
            </a:r>
          </a:p>
          <a:p>
            <a:pPr>
              <a:spcAft>
                <a:spcPts val="600"/>
              </a:spcAft>
              <a:defRPr sz="1800" b="0">
                <a:solidFill>
                  <a:srgbClr val="1F2937"/>
                </a:solidFill>
              </a:defRPr>
            </a:pPr>
            <a:r>
              <a:t>• NCAP: only Delhi, Pune, Mumbai and Ahmedabad have a decision-support system</a:t>
            </a:r>
          </a:p>
          <a:p>
            <a:pPr>
              <a:spcAft>
                <a:spcPts val="600"/>
              </a:spcAft>
              <a:defRPr sz="1800" b="0">
                <a:solidFill>
                  <a:srgbClr val="1F2937"/>
                </a:solidFill>
              </a:defRPr>
            </a:pPr>
            <a:r>
              <a:t>• Differential method: no city-specific forecast model</a:t>
            </a:r>
          </a:p>
          <a:p>
            <a:pPr>
              <a:spcAft>
                <a:spcPts val="600"/>
              </a:spcAft>
              <a:defRPr sz="1800" b="0">
                <a:solidFill>
                  <a:srgbClr val="1F2937"/>
                </a:solidFill>
              </a:defRPr>
            </a:pPr>
            <a:r>
              <a:t>• Same hardware; local siting + calibration checks</a:t>
            </a:r>
          </a:p>
          <a:p>
            <a:pPr>
              <a:spcAft>
                <a:spcPts val="600"/>
              </a:spcAft>
              <a:defRPr sz="1800" b="0">
                <a:solidFill>
                  <a:srgbClr val="1F2937"/>
                </a:solidFill>
              </a:defRPr>
            </a:pPr>
            <a:r>
              <a:t>• Plugs into existing state portals (DPCC cloud pattern)</a:t>
            </a:r>
          </a:p>
        </p:txBody>
      </p:sp>
      <p:sp>
        <p:nvSpPr>
          <p:cNvPr id="6" name="TextBox 5"/>
          <p:cNvSpPr txBox="1"/>
          <p:nvPr/>
        </p:nvSpPr>
        <p:spPr>
          <a:xfrm>
            <a:off x="548640" y="6355080"/>
            <a:ext cx="11155680" cy="365760"/>
          </a:xfrm>
          <a:prstGeom prst="rect">
            <a:avLst/>
          </a:prstGeom>
          <a:noFill/>
        </p:spPr>
        <p:txBody>
          <a:bodyPr wrap="square">
            <a:spAutoFit/>
          </a:bodyPr>
          <a:lstStyle/>
          <a:p>
            <a:pPr>
              <a:spcAft>
                <a:spcPts val="600"/>
              </a:spcAft>
              <a:defRPr sz="1000" b="0">
                <a:solidFill>
                  <a:srgbClr val="6B7280"/>
                </a:solidFill>
              </a:defRPr>
            </a:pPr>
            <a:r>
              <a:t>Sources: The Hindu (2024) on NCAP; The News Mill (Sept 2026) on enforcement teams. research/landscape.md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Roadmap</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Roadmap to a working prototype — and our ask</a:t>
            </a:r>
          </a:p>
        </p:txBody>
      </p:sp>
      <p:sp>
        <p:nvSpPr>
          <p:cNvPr id="4" name="TextBox 3"/>
          <p:cNvSpPr txBox="1"/>
          <p:nvPr/>
        </p:nvSpPr>
        <p:spPr>
          <a:xfrm>
            <a:off x="548640" y="1645920"/>
            <a:ext cx="11155680" cy="4114800"/>
          </a:xfrm>
          <a:prstGeom prst="rect">
            <a:avLst/>
          </a:prstGeom>
          <a:noFill/>
        </p:spPr>
        <p:txBody>
          <a:bodyPr wrap="square">
            <a:spAutoFit/>
          </a:bodyPr>
          <a:lstStyle/>
          <a:p>
            <a:pPr>
              <a:spcAft>
                <a:spcPts val="1200"/>
              </a:spcAft>
              <a:defRPr sz="2000" b="0">
                <a:solidFill>
                  <a:srgbClr val="1F2937"/>
                </a:solidFill>
              </a:defRPr>
            </a:pPr>
            <a:r>
              <a:t>Oct  — evaluator v2 stress tests; spike ratchet; parts ordered</a:t>
            </a:r>
          </a:p>
          <a:p>
            <a:pPr>
              <a:spcAft>
                <a:spcPts val="1200"/>
              </a:spcAft>
              <a:defRPr sz="2000" b="0">
                <a:solidFill>
                  <a:srgbClr val="1F2937"/>
                </a:solidFill>
              </a:defRPr>
            </a:pPr>
            <a:r>
              <a:t>Nov (1st half) — 4-node ring + wind + misting rig; side-by-side and reference co-location; controlled dust trial</a:t>
            </a:r>
          </a:p>
          <a:p>
            <a:pPr>
              <a:spcAft>
                <a:spcPts val="1200"/>
              </a:spcAft>
              <a:defRPr sz="2000" b="0">
                <a:solidFill>
                  <a:srgbClr val="1F2937"/>
                </a:solidFill>
              </a:defRPr>
            </a:pPr>
            <a:r>
              <a:t>1 Dec — report + working prototype (real sensor data, labelled)</a:t>
            </a:r>
          </a:p>
          <a:p>
            <a:pPr>
              <a:spcAft>
                <a:spcPts val="1200"/>
              </a:spcAft>
              <a:defRPr sz="2000" b="0">
                <a:solidFill>
                  <a:srgbClr val="1F2937"/>
                </a:solidFill>
              </a:defRPr>
            </a:pPr>
            <a:r>
              <a:t>15–18 Dec — finals demo: live ring around a dust source, dashboard, automatic misting</a:t>
            </a:r>
          </a:p>
          <a:p>
            <a:pPr>
              <a:spcAft>
                <a:spcPts val="1200"/>
              </a:spcAft>
              <a:defRPr sz="2200" b="1">
                <a:solidFill>
                  <a:srgbClr val="0F766E"/>
                </a:solidFill>
              </a:defRPr>
            </a:pPr>
            <a:r>
              <a:t>Ask: a pilot construction site · a DPCC/CAQM contact · a reference co-location slot</a:t>
            </a:r>
          </a:p>
        </p:txBody>
      </p:sp>
      <p:sp>
        <p:nvSpPr>
          <p:cNvPr id="5" name="TextBox 4"/>
          <p:cNvSpPr txBox="1"/>
          <p:nvPr/>
        </p:nvSpPr>
        <p:spPr>
          <a:xfrm>
            <a:off x="548640" y="5669280"/>
            <a:ext cx="10972800" cy="548640"/>
          </a:xfrm>
          <a:prstGeom prst="rect">
            <a:avLst/>
          </a:prstGeom>
          <a:noFill/>
        </p:spPr>
        <p:txBody>
          <a:bodyPr wrap="square">
            <a:spAutoFit/>
          </a:bodyPr>
          <a:lstStyle/>
          <a:p>
            <a:pPr>
              <a:spcAft>
                <a:spcPts val="600"/>
              </a:spcAft>
              <a:defRPr sz="2400" b="1">
                <a:solidFill>
                  <a:srgbClr val="1F2937"/>
                </a:solidFill>
              </a:defRPr>
            </a:pPr>
            <a:r>
              <a:t>Measure the site, not the city — and let clean sites 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Backup</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Appendix A — one week of the replay</a:t>
            </a:r>
          </a:p>
        </p:txBody>
      </p:sp>
      <p:pic>
        <p:nvPicPr>
          <p:cNvPr id="4" name="Picture 3" descr="fig_timeseries.png"/>
          <p:cNvPicPr>
            <a:picLocks noChangeAspect="1"/>
          </p:cNvPicPr>
          <p:nvPr/>
        </p:nvPicPr>
        <p:blipFill>
          <a:blip r:embed="rId3"/>
          <a:stretch>
            <a:fillRect/>
          </a:stretch>
        </p:blipFill>
        <p:spPr>
          <a:xfrm>
            <a:off x="548640" y="1371600"/>
            <a:ext cx="8760542" cy="49377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a:spAutoFit/>
          </a:bodyPr>
          <a:lstStyle/>
          <a:p>
            <a:pPr>
              <a:spcAft>
                <a:spcPts val="600"/>
              </a:spcAft>
              <a:defRPr sz="1400" b="1">
                <a:solidFill>
                  <a:srgbClr val="0F766E"/>
                </a:solidFill>
              </a:defRPr>
            </a:pPr>
            <a:r>
              <a:t>Backup</a:t>
            </a:r>
          </a:p>
        </p:txBody>
      </p:sp>
      <p:sp>
        <p:nvSpPr>
          <p:cNvPr id="3" name="TextBox 2"/>
          <p:cNvSpPr txBox="1"/>
          <p:nvPr/>
        </p:nvSpPr>
        <p:spPr>
          <a:xfrm>
            <a:off x="548640" y="548640"/>
            <a:ext cx="11155680" cy="914400"/>
          </a:xfrm>
          <a:prstGeom prst="rect">
            <a:avLst/>
          </a:prstGeom>
          <a:noFill/>
        </p:spPr>
        <p:txBody>
          <a:bodyPr wrap="square">
            <a:spAutoFit/>
          </a:bodyPr>
          <a:lstStyle/>
          <a:p>
            <a:pPr>
              <a:spcAft>
                <a:spcPts val="600"/>
              </a:spcAft>
              <a:defRPr sz="3200" b="1">
                <a:solidFill>
                  <a:srgbClr val="1F2937"/>
                </a:solidFill>
              </a:defRPr>
            </a:pPr>
            <a:r>
              <a:t>Appendix B — what is real, what is simulated</a:t>
            </a:r>
          </a:p>
        </p:txBody>
      </p:sp>
      <p:sp>
        <p:nvSpPr>
          <p:cNvPr id="4" name="TextBox 3"/>
          <p:cNvSpPr txBox="1"/>
          <p:nvPr/>
        </p:nvSpPr>
        <p:spPr>
          <a:xfrm>
            <a:off x="548640" y="1645920"/>
            <a:ext cx="5486400" cy="4572000"/>
          </a:xfrm>
          <a:prstGeom prst="rect">
            <a:avLst/>
          </a:prstGeom>
          <a:noFill/>
        </p:spPr>
        <p:txBody>
          <a:bodyPr wrap="square">
            <a:spAutoFit/>
          </a:bodyPr>
          <a:lstStyle/>
          <a:p>
            <a:pPr>
              <a:spcAft>
                <a:spcPts val="600"/>
              </a:spcAft>
              <a:defRPr sz="2200" b="1">
                <a:solidFill>
                  <a:srgbClr val="0F766E"/>
                </a:solidFill>
              </a:defRPr>
            </a:pPr>
            <a:r>
              <a:t>Real (committed, reproducible)</a:t>
            </a:r>
          </a:p>
          <a:p>
            <a:pPr>
              <a:spcAft>
                <a:spcPts val="600"/>
              </a:spcAft>
              <a:defRPr sz="1800" b="0">
                <a:solidFill>
                  <a:srgbClr val="1F2937"/>
                </a:solidFill>
              </a:defRPr>
            </a:pPr>
            <a:r>
              <a:t>• CPCB/DPCC hourly PM at 4 Delhi monitors (OpenAQ archive)</a:t>
            </a:r>
          </a:p>
          <a:p>
            <a:pPr>
              <a:spcAft>
                <a:spcPts val="600"/>
              </a:spcAft>
              <a:defRPr sz="1800" b="0">
                <a:solidFill>
                  <a:srgbClr val="1F2937"/>
                </a:solidFill>
              </a:defRPr>
            </a:pPr>
            <a:r>
              <a:t>• ERA5 meteorology; CAMS fields (reference)</a:t>
            </a:r>
          </a:p>
          <a:p>
            <a:pPr>
              <a:spcAft>
                <a:spcPts val="600"/>
              </a:spcAft>
              <a:defRPr sz="1800" b="0">
                <a:solidFill>
                  <a:srgbClr val="1F2937"/>
                </a:solidFill>
              </a:defRPr>
            </a:pPr>
            <a:r>
              <a:t>• Forecast benchmark, walk-forward split</a:t>
            </a:r>
          </a:p>
          <a:p>
            <a:pPr>
              <a:spcAft>
                <a:spcPts val="600"/>
              </a:spcAft>
              <a:defRPr sz="1800" b="0">
                <a:solidFill>
                  <a:srgbClr val="1F2937"/>
                </a:solidFill>
              </a:defRPr>
            </a:pPr>
            <a:r>
              <a:t>• Typed component contracts, replay harness</a:t>
            </a:r>
          </a:p>
        </p:txBody>
      </p:sp>
      <p:sp>
        <p:nvSpPr>
          <p:cNvPr id="5" name="TextBox 4"/>
          <p:cNvSpPr txBox="1"/>
          <p:nvPr/>
        </p:nvSpPr>
        <p:spPr>
          <a:xfrm>
            <a:off x="6309360" y="1645920"/>
            <a:ext cx="5486400" cy="4572000"/>
          </a:xfrm>
          <a:prstGeom prst="rect">
            <a:avLst/>
          </a:prstGeom>
          <a:noFill/>
        </p:spPr>
        <p:txBody>
          <a:bodyPr wrap="square">
            <a:spAutoFit/>
          </a:bodyPr>
          <a:lstStyle/>
          <a:p>
            <a:pPr>
              <a:spcAft>
                <a:spcPts val="600"/>
              </a:spcAft>
              <a:defRPr sz="2200" b="1">
                <a:solidFill>
                  <a:srgbClr val="B45309"/>
                </a:solidFill>
              </a:defRPr>
            </a:pPr>
            <a:r>
              <a:t>Simulated (labelled)</a:t>
            </a:r>
          </a:p>
          <a:p>
            <a:pPr>
              <a:spcAft>
                <a:spcPts val="600"/>
              </a:spcAft>
              <a:defRPr sz="1800" b="0">
                <a:solidFill>
                  <a:srgbClr val="1F2937"/>
                </a:solidFill>
              </a:defRPr>
            </a:pPr>
            <a:r>
              <a:t>• Construction site, emissions, plumes</a:t>
            </a:r>
          </a:p>
          <a:p>
            <a:pPr>
              <a:spcAft>
                <a:spcPts val="600"/>
              </a:spcAft>
              <a:defRPr sz="1800" b="0">
                <a:solidFill>
                  <a:srgbClr val="1F2937"/>
                </a:solidFill>
              </a:defRPr>
            </a:pPr>
            <a:r>
              <a:t>• Fence-line sensors and their errors</a:t>
            </a:r>
          </a:p>
          <a:p>
            <a:pPr>
              <a:spcAft>
                <a:spcPts val="600"/>
              </a:spcAft>
              <a:defRPr sz="1800" b="0">
                <a:solidFill>
                  <a:srgbClr val="1F2937"/>
                </a:solidFill>
              </a:defRPr>
            </a:pPr>
            <a:r>
              <a:t>• Misting effect: not modelled yet</a:t>
            </a:r>
          </a:p>
          <a:p>
            <a:pPr>
              <a:spcAft>
                <a:spcPts val="600"/>
              </a:spcAft>
              <a:defRPr sz="2200" b="1">
                <a:solidFill>
                  <a:srgbClr val="6B7280"/>
                </a:solidFill>
              </a:defRPr>
            </a:pPr>
            <a:r>
              <a:t>Not yet built</a:t>
            </a:r>
          </a:p>
          <a:p>
            <a:pPr>
              <a:spcAft>
                <a:spcPts val="600"/>
              </a:spcAft>
              <a:defRPr sz="1800" b="0">
                <a:solidFill>
                  <a:srgbClr val="1F2937"/>
                </a:solidFill>
              </a:defRPr>
            </a:pPr>
            <a:r>
              <a:t>• Hardware ring, misting rig, tamper detection,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